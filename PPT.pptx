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TT Interphases" panose="020B0604020202020204" charset="0"/>
      <p:regular r:id="rId17"/>
    </p:embeddedFont>
    <p:embeddedFont>
      <p:font typeface="TT Interphase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42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3693" y="-433592"/>
            <a:ext cx="19574302" cy="11154184"/>
          </a:xfrm>
          <a:custGeom>
            <a:avLst/>
            <a:gdLst/>
            <a:ahLst/>
            <a:cxnLst/>
            <a:rect l="l" t="t" r="r" b="b"/>
            <a:pathLst>
              <a:path w="19574302" h="11154184">
                <a:moveTo>
                  <a:pt x="0" y="0"/>
                </a:moveTo>
                <a:lnTo>
                  <a:pt x="19574303" y="0"/>
                </a:lnTo>
                <a:lnTo>
                  <a:pt x="19574303" y="11154184"/>
                </a:lnTo>
                <a:lnTo>
                  <a:pt x="0" y="1115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59" b="-84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-7630778" y="-216796"/>
            <a:ext cx="16066282" cy="10720592"/>
          </a:xfrm>
          <a:custGeom>
            <a:avLst/>
            <a:gdLst/>
            <a:ahLst/>
            <a:cxnLst/>
            <a:rect l="l" t="t" r="r" b="b"/>
            <a:pathLst>
              <a:path w="16066282" h="10720592">
                <a:moveTo>
                  <a:pt x="16066283" y="0"/>
                </a:moveTo>
                <a:lnTo>
                  <a:pt x="0" y="0"/>
                </a:lnTo>
                <a:lnTo>
                  <a:pt x="0" y="10720592"/>
                </a:lnTo>
                <a:lnTo>
                  <a:pt x="16066283" y="10720592"/>
                </a:lnTo>
                <a:lnTo>
                  <a:pt x="1606628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8878688" y="3171036"/>
            <a:ext cx="8853323" cy="4202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137"/>
              </a:lnSpc>
            </a:pPr>
            <a:r>
              <a:rPr lang="en-US" sz="9041" b="1" spc="-415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Manufacturing Production &amp; Rejection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78688" y="7449339"/>
            <a:ext cx="9179504" cy="2095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 b="1" spc="-13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Group members :</a:t>
            </a:r>
          </a:p>
          <a:p>
            <a:pPr algn="l">
              <a:lnSpc>
                <a:spcPts val="2700"/>
              </a:lnSpc>
            </a:pPr>
            <a:r>
              <a:rPr lang="en-US" sz="3000" spc="-138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Sonal  ,Hemateja ,Faris ,Siddesh ,Vinayak ,Swapnil ,</a:t>
            </a:r>
          </a:p>
          <a:p>
            <a:pPr algn="l">
              <a:lnSpc>
                <a:spcPts val="2700"/>
              </a:lnSpc>
            </a:pPr>
            <a:r>
              <a:rPr lang="en-US" sz="3000" spc="-138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Saikrishna</a:t>
            </a:r>
          </a:p>
          <a:p>
            <a:pPr algn="l">
              <a:lnSpc>
                <a:spcPts val="2700"/>
              </a:lnSpc>
            </a:pPr>
            <a:endParaRPr lang="en-US" sz="3000" spc="-138">
              <a:solidFill>
                <a:srgbClr val="8C52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l">
              <a:lnSpc>
                <a:spcPts val="2700"/>
              </a:lnSpc>
            </a:pPr>
            <a:r>
              <a:rPr lang="en-US" sz="3000" b="1" spc="-13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Tools used :</a:t>
            </a:r>
          </a:p>
          <a:p>
            <a:pPr algn="l">
              <a:lnSpc>
                <a:spcPts val="2700"/>
              </a:lnSpc>
            </a:pPr>
            <a:r>
              <a:rPr lang="en-US" sz="3000" spc="-138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excel ,powerbi ,sql ,tableau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78688" y="2761460"/>
            <a:ext cx="5659747" cy="38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00"/>
              </a:lnSpc>
            </a:pPr>
            <a:r>
              <a:rPr lang="en-US" sz="3000" spc="-138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GROUP 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62046" y="4076700"/>
            <a:ext cx="14763907" cy="442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ts val="5287"/>
              </a:lnSpc>
              <a:buFont typeface="Arial" panose="020B0604020202020204" pitchFamily="34" charset="0"/>
              <a:buChar char="•"/>
            </a:pPr>
            <a:r>
              <a:rPr lang="en-US" sz="3776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Domain: </a:t>
            </a:r>
            <a:r>
              <a:rPr lang="en-US" sz="3776" dirty="0">
                <a:solidFill>
                  <a:srgbClr val="8C52FF"/>
                </a:solidFill>
                <a:latin typeface="TT Interphases"/>
                <a:sym typeface="TT Interphases Bold"/>
              </a:rPr>
              <a:t>Manufacturing </a:t>
            </a:r>
          </a:p>
          <a:p>
            <a:pPr marL="571500" indent="-571500">
              <a:lnSpc>
                <a:spcPts val="5287"/>
              </a:lnSpc>
              <a:buFont typeface="Arial" panose="020B0604020202020204" pitchFamily="34" charset="0"/>
              <a:buChar char="•"/>
            </a:pPr>
            <a:r>
              <a:rPr lang="en-IN" sz="3776" b="1" dirty="0">
                <a:solidFill>
                  <a:srgbClr val="8C52FF"/>
                </a:solidFill>
                <a:latin typeface="TT Interphases Bold"/>
              </a:rPr>
              <a:t>Business Problem:</a:t>
            </a:r>
            <a:r>
              <a:rPr lang="en-US" sz="3776" b="1" dirty="0">
                <a:solidFill>
                  <a:srgbClr val="8C52FF"/>
                </a:solidFill>
                <a:latin typeface="TT Interphases Bold"/>
                <a:sym typeface="TT Interphases"/>
              </a:rPr>
              <a:t> </a:t>
            </a:r>
            <a:r>
              <a:rPr lang="en-US" sz="3776" dirty="0">
                <a:solidFill>
                  <a:srgbClr val="8C52FF"/>
                </a:solidFill>
                <a:latin typeface="TT Interphases"/>
                <a:sym typeface="TT Interphases"/>
              </a:rPr>
              <a:t>Employees and Machines have a lot of               rejected  quantities </a:t>
            </a:r>
          </a:p>
          <a:p>
            <a:pPr marL="571500" indent="-571500">
              <a:lnSpc>
                <a:spcPts val="5287"/>
              </a:lnSpc>
              <a:buFont typeface="Arial" panose="020B0604020202020204" pitchFamily="34" charset="0"/>
              <a:buChar char="•"/>
            </a:pPr>
            <a:r>
              <a:rPr lang="en-US" sz="3776" b="1" dirty="0">
                <a:solidFill>
                  <a:srgbClr val="8C52FF"/>
                </a:solidFill>
                <a:latin typeface="TT Interphases Bold"/>
                <a:sym typeface="TT Interphases"/>
              </a:rPr>
              <a:t>Gold</a:t>
            </a:r>
            <a:r>
              <a:rPr lang="en-US" sz="3776" dirty="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improved quality control, reduced rejection rates, and enhanced production efficiency</a:t>
            </a:r>
          </a:p>
          <a:p>
            <a:pPr algn="l">
              <a:lnSpc>
                <a:spcPts val="4027"/>
              </a:lnSpc>
            </a:pPr>
            <a:endParaRPr lang="en-US" sz="3776" dirty="0">
              <a:solidFill>
                <a:srgbClr val="8C52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l">
              <a:lnSpc>
                <a:spcPts val="4027"/>
              </a:lnSpc>
            </a:pPr>
            <a:endParaRPr lang="en-US" sz="3776" dirty="0">
              <a:solidFill>
                <a:srgbClr val="8C52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0584" y="-603210"/>
            <a:ext cx="18106832" cy="2731988"/>
            <a:chOff x="0" y="0"/>
            <a:chExt cx="4768877" cy="7195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68878" cy="719536"/>
            </a:xfrm>
            <a:custGeom>
              <a:avLst/>
              <a:gdLst/>
              <a:ahLst/>
              <a:cxnLst/>
              <a:rect l="l" t="t" r="r" b="b"/>
              <a:pathLst>
                <a:path w="4768878" h="719536">
                  <a:moveTo>
                    <a:pt x="7269" y="0"/>
                  </a:moveTo>
                  <a:lnTo>
                    <a:pt x="4761609" y="0"/>
                  </a:lnTo>
                  <a:cubicBezTo>
                    <a:pt x="4763537" y="0"/>
                    <a:pt x="4765385" y="766"/>
                    <a:pt x="4766749" y="2129"/>
                  </a:cubicBezTo>
                  <a:cubicBezTo>
                    <a:pt x="4768112" y="3492"/>
                    <a:pt x="4768878" y="5341"/>
                    <a:pt x="4768878" y="7269"/>
                  </a:cubicBezTo>
                  <a:lnTo>
                    <a:pt x="4768878" y="712267"/>
                  </a:lnTo>
                  <a:cubicBezTo>
                    <a:pt x="4768878" y="714195"/>
                    <a:pt x="4768112" y="716044"/>
                    <a:pt x="4766749" y="717407"/>
                  </a:cubicBezTo>
                  <a:cubicBezTo>
                    <a:pt x="4765385" y="718770"/>
                    <a:pt x="4763537" y="719536"/>
                    <a:pt x="4761609" y="719536"/>
                  </a:cubicBezTo>
                  <a:lnTo>
                    <a:pt x="7269" y="719536"/>
                  </a:lnTo>
                  <a:cubicBezTo>
                    <a:pt x="5341" y="719536"/>
                    <a:pt x="3492" y="718770"/>
                    <a:pt x="2129" y="717407"/>
                  </a:cubicBezTo>
                  <a:cubicBezTo>
                    <a:pt x="766" y="716044"/>
                    <a:pt x="0" y="714195"/>
                    <a:pt x="0" y="712267"/>
                  </a:cubicBezTo>
                  <a:lnTo>
                    <a:pt x="0" y="7269"/>
                  </a:lnTo>
                  <a:cubicBezTo>
                    <a:pt x="0" y="5341"/>
                    <a:pt x="766" y="3492"/>
                    <a:pt x="2129" y="2129"/>
                  </a:cubicBezTo>
                  <a:cubicBezTo>
                    <a:pt x="3492" y="766"/>
                    <a:pt x="5341" y="0"/>
                    <a:pt x="7269" y="0"/>
                  </a:cubicBezTo>
                  <a:close/>
                </a:path>
              </a:pathLst>
            </a:custGeom>
            <a:solidFill>
              <a:srgbClr val="E1DC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768877" cy="75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063704" y="510240"/>
            <a:ext cx="8654547" cy="135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869"/>
              </a:lnSpc>
            </a:pPr>
            <a:r>
              <a:rPr lang="en-US" sz="10965" b="1" spc="-504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Introduction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584" y="-603210"/>
            <a:ext cx="18106832" cy="2731988"/>
            <a:chOff x="0" y="0"/>
            <a:chExt cx="4768877" cy="719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68878" cy="719536"/>
            </a:xfrm>
            <a:custGeom>
              <a:avLst/>
              <a:gdLst/>
              <a:ahLst/>
              <a:cxnLst/>
              <a:rect l="l" t="t" r="r" b="b"/>
              <a:pathLst>
                <a:path w="4768878" h="719536">
                  <a:moveTo>
                    <a:pt x="7269" y="0"/>
                  </a:moveTo>
                  <a:lnTo>
                    <a:pt x="4761609" y="0"/>
                  </a:lnTo>
                  <a:cubicBezTo>
                    <a:pt x="4763537" y="0"/>
                    <a:pt x="4765385" y="766"/>
                    <a:pt x="4766749" y="2129"/>
                  </a:cubicBezTo>
                  <a:cubicBezTo>
                    <a:pt x="4768112" y="3492"/>
                    <a:pt x="4768878" y="5341"/>
                    <a:pt x="4768878" y="7269"/>
                  </a:cubicBezTo>
                  <a:lnTo>
                    <a:pt x="4768878" y="712267"/>
                  </a:lnTo>
                  <a:cubicBezTo>
                    <a:pt x="4768878" y="714195"/>
                    <a:pt x="4768112" y="716044"/>
                    <a:pt x="4766749" y="717407"/>
                  </a:cubicBezTo>
                  <a:cubicBezTo>
                    <a:pt x="4765385" y="718770"/>
                    <a:pt x="4763537" y="719536"/>
                    <a:pt x="4761609" y="719536"/>
                  </a:cubicBezTo>
                  <a:lnTo>
                    <a:pt x="7269" y="719536"/>
                  </a:lnTo>
                  <a:cubicBezTo>
                    <a:pt x="5341" y="719536"/>
                    <a:pt x="3492" y="718770"/>
                    <a:pt x="2129" y="717407"/>
                  </a:cubicBezTo>
                  <a:cubicBezTo>
                    <a:pt x="766" y="716044"/>
                    <a:pt x="0" y="714195"/>
                    <a:pt x="0" y="712267"/>
                  </a:cubicBezTo>
                  <a:lnTo>
                    <a:pt x="0" y="7269"/>
                  </a:lnTo>
                  <a:cubicBezTo>
                    <a:pt x="0" y="5341"/>
                    <a:pt x="766" y="3492"/>
                    <a:pt x="2129" y="2129"/>
                  </a:cubicBezTo>
                  <a:cubicBezTo>
                    <a:pt x="3492" y="766"/>
                    <a:pt x="5341" y="0"/>
                    <a:pt x="7269" y="0"/>
                  </a:cubicBezTo>
                  <a:close/>
                </a:path>
              </a:pathLst>
            </a:custGeom>
            <a:solidFill>
              <a:srgbClr val="E1DC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68877" cy="75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19622" y="2697492"/>
            <a:ext cx="14690554" cy="607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4"/>
              </a:lnSpc>
            </a:pPr>
            <a:endParaRPr/>
          </a:p>
          <a:p>
            <a:pPr marL="930602" lvl="1" indent="-465301" algn="l">
              <a:lnSpc>
                <a:spcPts val="6034"/>
              </a:lnSpc>
              <a:buFont typeface="Arial"/>
              <a:buChar char="•"/>
            </a:pPr>
            <a:r>
              <a:rPr lang="en-US" sz="4310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File</a:t>
            </a:r>
            <a:r>
              <a:rPr lang="en-US" sz="431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PROD DATA. TXT</a:t>
            </a:r>
          </a:p>
          <a:p>
            <a:pPr marL="930602" lvl="1" indent="-465301" algn="l">
              <a:lnSpc>
                <a:spcPts val="6034"/>
              </a:lnSpc>
              <a:buFont typeface="Arial"/>
              <a:buChar char="•"/>
            </a:pPr>
            <a:r>
              <a:rPr lang="en-US" sz="4310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Size:  </a:t>
            </a:r>
            <a:r>
              <a:rPr lang="en-US" sz="431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10335 Rows and 68 Columns </a:t>
            </a:r>
          </a:p>
          <a:p>
            <a:pPr marL="930602" lvl="1" indent="-465301" algn="l">
              <a:lnSpc>
                <a:spcPts val="6034"/>
              </a:lnSpc>
              <a:buFont typeface="Arial"/>
              <a:buChar char="•"/>
            </a:pPr>
            <a:r>
              <a:rPr lang="en-US" sz="4310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Key Columns</a:t>
            </a:r>
            <a:r>
              <a:rPr lang="en-US" sz="431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Emp Name, Machine Name, Department Name, Manufactured Qty and Rejected Qty </a:t>
            </a:r>
          </a:p>
          <a:p>
            <a:pPr marL="930602" lvl="1" indent="-465301" algn="l">
              <a:lnSpc>
                <a:spcPts val="6034"/>
              </a:lnSpc>
              <a:buFont typeface="Arial"/>
              <a:buChar char="•"/>
            </a:pPr>
            <a:r>
              <a:rPr lang="en-US" sz="4310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Aggregation</a:t>
            </a:r>
            <a:r>
              <a:rPr lang="en-US" sz="431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Manufactured Qty 83.71 M, Rejected Qty 523.71K and Process Qty 83.19M</a:t>
            </a:r>
          </a:p>
          <a:p>
            <a:pPr algn="l">
              <a:lnSpc>
                <a:spcPts val="6034"/>
              </a:lnSpc>
            </a:pPr>
            <a:endParaRPr lang="en-US" sz="4310">
              <a:solidFill>
                <a:srgbClr val="8C52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428577" y="551666"/>
            <a:ext cx="7924800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overview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2443" y="2272926"/>
            <a:ext cx="13254912" cy="564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3"/>
              </a:lnSpc>
            </a:pPr>
            <a:endParaRPr/>
          </a:p>
          <a:p>
            <a:pPr marL="992176" lvl="1" indent="-496088" algn="l">
              <a:lnSpc>
                <a:spcPts val="6433"/>
              </a:lnSpc>
              <a:buFont typeface="Arial"/>
              <a:buChar char="•"/>
            </a:pPr>
            <a:r>
              <a:rPr lang="en-US" sz="4595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Employee Wise Rejected Qty</a:t>
            </a:r>
          </a:p>
          <a:p>
            <a:pPr marL="992176" lvl="1" indent="-496088" algn="l">
              <a:lnSpc>
                <a:spcPts val="6433"/>
              </a:lnSpc>
              <a:buFont typeface="Arial"/>
              <a:buChar char="•"/>
            </a:pPr>
            <a:r>
              <a:rPr lang="en-US" sz="4595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Machine Wise Rejected Qty </a:t>
            </a:r>
          </a:p>
          <a:p>
            <a:pPr marL="992176" lvl="1" indent="-496088" algn="l">
              <a:lnSpc>
                <a:spcPts val="6433"/>
              </a:lnSpc>
              <a:buFont typeface="Arial"/>
              <a:buChar char="•"/>
            </a:pPr>
            <a:r>
              <a:rPr lang="en-US" sz="4595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Production Comparison trend </a:t>
            </a:r>
          </a:p>
          <a:p>
            <a:pPr marL="992176" lvl="1" indent="-496088" algn="l">
              <a:lnSpc>
                <a:spcPts val="6433"/>
              </a:lnSpc>
              <a:buFont typeface="Arial"/>
              <a:buChar char="•"/>
            </a:pPr>
            <a:r>
              <a:rPr lang="en-US" sz="4595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Manufacture Vs Rejected </a:t>
            </a:r>
          </a:p>
          <a:p>
            <a:pPr marL="992176" lvl="1" indent="-496088" algn="l">
              <a:lnSpc>
                <a:spcPts val="6433"/>
              </a:lnSpc>
              <a:buFont typeface="Arial"/>
              <a:buChar char="•"/>
            </a:pPr>
            <a:r>
              <a:rPr lang="en-US" sz="4595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Department Wise Manufacture Vs Rejected</a:t>
            </a:r>
          </a:p>
          <a:p>
            <a:pPr algn="l">
              <a:lnSpc>
                <a:spcPts val="6433"/>
              </a:lnSpc>
            </a:pPr>
            <a:endParaRPr lang="en-US" sz="4595">
              <a:solidFill>
                <a:srgbClr val="8C52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0584" y="-603210"/>
            <a:ext cx="18106832" cy="2731988"/>
            <a:chOff x="0" y="0"/>
            <a:chExt cx="4768877" cy="7195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68878" cy="719536"/>
            </a:xfrm>
            <a:custGeom>
              <a:avLst/>
              <a:gdLst/>
              <a:ahLst/>
              <a:cxnLst/>
              <a:rect l="l" t="t" r="r" b="b"/>
              <a:pathLst>
                <a:path w="4768878" h="719536">
                  <a:moveTo>
                    <a:pt x="7269" y="0"/>
                  </a:moveTo>
                  <a:lnTo>
                    <a:pt x="4761609" y="0"/>
                  </a:lnTo>
                  <a:cubicBezTo>
                    <a:pt x="4763537" y="0"/>
                    <a:pt x="4765385" y="766"/>
                    <a:pt x="4766749" y="2129"/>
                  </a:cubicBezTo>
                  <a:cubicBezTo>
                    <a:pt x="4768112" y="3492"/>
                    <a:pt x="4768878" y="5341"/>
                    <a:pt x="4768878" y="7269"/>
                  </a:cubicBezTo>
                  <a:lnTo>
                    <a:pt x="4768878" y="712267"/>
                  </a:lnTo>
                  <a:cubicBezTo>
                    <a:pt x="4768878" y="714195"/>
                    <a:pt x="4768112" y="716044"/>
                    <a:pt x="4766749" y="717407"/>
                  </a:cubicBezTo>
                  <a:cubicBezTo>
                    <a:pt x="4765385" y="718770"/>
                    <a:pt x="4763537" y="719536"/>
                    <a:pt x="4761609" y="719536"/>
                  </a:cubicBezTo>
                  <a:lnTo>
                    <a:pt x="7269" y="719536"/>
                  </a:lnTo>
                  <a:cubicBezTo>
                    <a:pt x="5341" y="719536"/>
                    <a:pt x="3492" y="718770"/>
                    <a:pt x="2129" y="717407"/>
                  </a:cubicBezTo>
                  <a:cubicBezTo>
                    <a:pt x="766" y="716044"/>
                    <a:pt x="0" y="714195"/>
                    <a:pt x="0" y="712267"/>
                  </a:cubicBezTo>
                  <a:lnTo>
                    <a:pt x="0" y="7269"/>
                  </a:lnTo>
                  <a:cubicBezTo>
                    <a:pt x="0" y="5341"/>
                    <a:pt x="766" y="3492"/>
                    <a:pt x="2129" y="2129"/>
                  </a:cubicBezTo>
                  <a:cubicBezTo>
                    <a:pt x="3492" y="766"/>
                    <a:pt x="5341" y="0"/>
                    <a:pt x="7269" y="0"/>
                  </a:cubicBezTo>
                  <a:close/>
                </a:path>
              </a:pathLst>
            </a:custGeom>
            <a:solidFill>
              <a:srgbClr val="E1DC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768877" cy="75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632528" y="551666"/>
            <a:ext cx="9250124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Objective</a:t>
            </a: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63518" y="1882791"/>
            <a:ext cx="9899540" cy="737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Collection :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Gathered raw manufacturing data from production logs, employee sheets, and machine reports.</a:t>
            </a:r>
          </a:p>
          <a:p>
            <a:pPr algn="l">
              <a:lnSpc>
                <a:spcPts val="3236"/>
              </a:lnSpc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Data Cleaning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Removed duplicates, fixed inconsistent entries, handled missing values, standardized formatting.</a:t>
            </a:r>
          </a:p>
          <a:p>
            <a:pPr algn="l">
              <a:lnSpc>
                <a:spcPts val="3236"/>
              </a:lnSpc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Data Transformation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Added calculated fields (Rejection %, Monthly Summary).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Combined related tables using IDs.</a:t>
            </a:r>
          </a:p>
          <a:p>
            <a:pPr algn="l">
              <a:lnSpc>
                <a:spcPts val="3236"/>
              </a:lnSpc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. Exploratory Data Analysis (EDA)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Identified trends, outliers, top contributing factors.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Summarized data using pivot tables and descriptive statistics.</a:t>
            </a:r>
          </a:p>
          <a:p>
            <a:pPr algn="l">
              <a:lnSpc>
                <a:spcPts val="3236"/>
              </a:lnSpc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Data Visualization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Built dashboards in Excel, Tableau, and Power BI to represent trends, comparisons, and KPIs.</a:t>
            </a:r>
          </a:p>
          <a:p>
            <a:pPr algn="l">
              <a:lnSpc>
                <a:spcPts val="3236"/>
              </a:lnSpc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Insights &amp; Reporting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Extracted actionable insights and prepared final visual summaries and SQL outputs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9" y="1218780"/>
            <a:ext cx="8539631" cy="834000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38819" y="551666"/>
            <a:ext cx="7924800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Process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09862" y="2773177"/>
            <a:ext cx="7785168" cy="5764582"/>
            <a:chOff x="0" y="0"/>
            <a:chExt cx="2050415" cy="15182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0415" cy="1518244"/>
            </a:xfrm>
            <a:custGeom>
              <a:avLst/>
              <a:gdLst/>
              <a:ahLst/>
              <a:cxnLst/>
              <a:rect l="l" t="t" r="r" b="b"/>
              <a:pathLst>
                <a:path w="2050415" h="1518244">
                  <a:moveTo>
                    <a:pt x="87511" y="0"/>
                  </a:moveTo>
                  <a:lnTo>
                    <a:pt x="1962903" y="0"/>
                  </a:lnTo>
                  <a:cubicBezTo>
                    <a:pt x="2011235" y="0"/>
                    <a:pt x="2050415" y="39180"/>
                    <a:pt x="2050415" y="87511"/>
                  </a:cubicBezTo>
                  <a:lnTo>
                    <a:pt x="2050415" y="1430733"/>
                  </a:lnTo>
                  <a:cubicBezTo>
                    <a:pt x="2050415" y="1479064"/>
                    <a:pt x="2011235" y="1518244"/>
                    <a:pt x="1962903" y="1518244"/>
                  </a:cubicBezTo>
                  <a:lnTo>
                    <a:pt x="87511" y="1518244"/>
                  </a:lnTo>
                  <a:cubicBezTo>
                    <a:pt x="39180" y="1518244"/>
                    <a:pt x="0" y="1479064"/>
                    <a:pt x="0" y="1430733"/>
                  </a:cubicBezTo>
                  <a:lnTo>
                    <a:pt x="0" y="87511"/>
                  </a:lnTo>
                  <a:cubicBezTo>
                    <a:pt x="0" y="39180"/>
                    <a:pt x="39180" y="0"/>
                    <a:pt x="87511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50415" cy="1556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522462" y="2773177"/>
            <a:ext cx="5475566" cy="6485123"/>
          </a:xfrm>
          <a:custGeom>
            <a:avLst/>
            <a:gdLst/>
            <a:ahLst/>
            <a:cxnLst/>
            <a:rect l="l" t="t" r="r" b="b"/>
            <a:pathLst>
              <a:path w="5475566" h="6485123">
                <a:moveTo>
                  <a:pt x="0" y="0"/>
                </a:moveTo>
                <a:lnTo>
                  <a:pt x="5475566" y="0"/>
                </a:lnTo>
                <a:lnTo>
                  <a:pt x="5475566" y="6485123"/>
                </a:lnTo>
                <a:lnTo>
                  <a:pt x="0" y="6485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600919" y="939738"/>
            <a:ext cx="16397109" cy="122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999"/>
              </a:lnSpc>
            </a:pPr>
            <a:r>
              <a:rPr lang="en-US" sz="9999" b="1" spc="-45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Employee Wise Rejected Qty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067626"/>
            <a:ext cx="9485996" cy="5690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Top 10 Employees by Rejected Quantity out of 107 employees.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One employee has a very high rejected quantity compared to others.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This needs investigation because the number is extremely high and not in line with other employees.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This value is over 1,000× higher than everyone else in the Top 10.</a:t>
            </a:r>
          </a:p>
          <a:p>
            <a:pPr algn="l">
              <a:lnSpc>
                <a:spcPts val="4526"/>
              </a:lnSpc>
            </a:pPr>
            <a:endParaRPr lang="en-US" sz="3232" b="1" spc="-148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36231" y="3080069"/>
            <a:ext cx="5265616" cy="5900833"/>
          </a:xfrm>
          <a:custGeom>
            <a:avLst/>
            <a:gdLst/>
            <a:ahLst/>
            <a:cxnLst/>
            <a:rect l="l" t="t" r="r" b="b"/>
            <a:pathLst>
              <a:path w="5265616" h="5900833">
                <a:moveTo>
                  <a:pt x="0" y="0"/>
                </a:moveTo>
                <a:lnTo>
                  <a:pt x="5265616" y="0"/>
                </a:lnTo>
                <a:lnTo>
                  <a:pt x="5265616" y="5900833"/>
                </a:lnTo>
                <a:lnTo>
                  <a:pt x="0" y="5900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00919" y="939717"/>
            <a:ext cx="16397109" cy="122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999"/>
              </a:lnSpc>
            </a:pPr>
            <a:r>
              <a:rPr lang="en-US" sz="9999" b="1" spc="-45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Machine-Wise Rejected Qty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329748"/>
            <a:ext cx="9485996" cy="4547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Top 10 Machines by Rejected Quantity out of 85 Machines.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A few machines—especially Machine C007—have very high rejection values.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This shows it needs maintenance, calibration, or operator support for these machines</a:t>
            </a:r>
          </a:p>
          <a:p>
            <a:pPr algn="l">
              <a:lnSpc>
                <a:spcPts val="4526"/>
              </a:lnSpc>
            </a:pPr>
            <a:endParaRPr lang="en-US" sz="3232" b="1" spc="-148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algn="l">
              <a:lnSpc>
                <a:spcPts val="4526"/>
              </a:lnSpc>
            </a:pPr>
            <a:endParaRPr lang="en-US" sz="3232" b="1" spc="-148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80671" y="5444139"/>
            <a:ext cx="13862354" cy="4627042"/>
          </a:xfrm>
          <a:custGeom>
            <a:avLst/>
            <a:gdLst/>
            <a:ahLst/>
            <a:cxnLst/>
            <a:rect l="l" t="t" r="r" b="b"/>
            <a:pathLst>
              <a:path w="13862354" h="4627042">
                <a:moveTo>
                  <a:pt x="0" y="0"/>
                </a:moveTo>
                <a:lnTo>
                  <a:pt x="13862354" y="0"/>
                </a:lnTo>
                <a:lnTo>
                  <a:pt x="13862354" y="4627042"/>
                </a:lnTo>
                <a:lnTo>
                  <a:pt x="0" y="4627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2" r="-38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00919" y="939717"/>
            <a:ext cx="16847310" cy="122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999"/>
              </a:lnSpc>
            </a:pPr>
            <a:r>
              <a:rPr lang="en-US" sz="9999" b="1" spc="-45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Production Comparison Trend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8031" y="2561175"/>
            <a:ext cx="12967994" cy="333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8366" lvl="1" indent="-349183" algn="l">
              <a:lnSpc>
                <a:spcPts val="4528"/>
              </a:lnSpc>
              <a:buFont typeface="Arial"/>
              <a:buChar char="•"/>
            </a:pPr>
            <a:r>
              <a:rPr lang="en-US" sz="3234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Shows daily production patterns vs rejection.</a:t>
            </a:r>
          </a:p>
          <a:p>
            <a:pPr marL="698366" lvl="1" indent="-349183" algn="l">
              <a:lnSpc>
                <a:spcPts val="4528"/>
              </a:lnSpc>
              <a:buFont typeface="Arial"/>
              <a:buChar char="•"/>
            </a:pPr>
            <a:r>
              <a:rPr lang="en-US" sz="3234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some days show sudden jumps in rejection even when production was steady.</a:t>
            </a:r>
          </a:p>
          <a:p>
            <a:pPr marL="698366" lvl="1" indent="-349183" algn="l">
              <a:lnSpc>
                <a:spcPts val="4528"/>
              </a:lnSpc>
              <a:buFont typeface="Arial"/>
              <a:buChar char="•"/>
            </a:pPr>
            <a:r>
              <a:rPr lang="en-US" sz="3234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These spikes help us identify days where machines or processes may have faced issues</a:t>
            </a:r>
          </a:p>
          <a:p>
            <a:pPr algn="l">
              <a:lnSpc>
                <a:spcPts val="3968"/>
              </a:lnSpc>
            </a:pPr>
            <a:endParaRPr lang="en-US" sz="3234" b="1" spc="-148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44091" y="3682875"/>
            <a:ext cx="9804138" cy="4877680"/>
          </a:xfrm>
          <a:custGeom>
            <a:avLst/>
            <a:gdLst/>
            <a:ahLst/>
            <a:cxnLst/>
            <a:rect l="l" t="t" r="r" b="b"/>
            <a:pathLst>
              <a:path w="9804138" h="4877680">
                <a:moveTo>
                  <a:pt x="0" y="0"/>
                </a:moveTo>
                <a:lnTo>
                  <a:pt x="9804138" y="0"/>
                </a:lnTo>
                <a:lnTo>
                  <a:pt x="9804138" y="4877680"/>
                </a:lnTo>
                <a:lnTo>
                  <a:pt x="0" y="4877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00919" y="939717"/>
            <a:ext cx="16847310" cy="122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999"/>
              </a:lnSpc>
            </a:pPr>
            <a:r>
              <a:rPr lang="en-US" sz="9999" b="1" spc="-45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Manufacture vs Rejected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415" y="3344225"/>
            <a:ext cx="7546038" cy="412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4665" lvl="1" indent="-362333" algn="l">
              <a:lnSpc>
                <a:spcPts val="4699"/>
              </a:lnSpc>
              <a:buFont typeface="Arial"/>
              <a:buChar char="•"/>
            </a:pPr>
            <a:r>
              <a:rPr lang="en-US" sz="3356" b="1" spc="-154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Direct comparison between production volume and rejection.</a:t>
            </a:r>
          </a:p>
          <a:p>
            <a:pPr marL="724665" lvl="1" indent="-362333" algn="l">
              <a:lnSpc>
                <a:spcPts val="4699"/>
              </a:lnSpc>
              <a:buFont typeface="Arial"/>
              <a:buChar char="•"/>
            </a:pPr>
            <a:r>
              <a:rPr lang="en-US" sz="3356" b="1" spc="-154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Highlights imbalance or inefficiencies in production.</a:t>
            </a:r>
          </a:p>
          <a:p>
            <a:pPr marL="724665" lvl="1" indent="-362333" algn="l">
              <a:lnSpc>
                <a:spcPts val="4699"/>
              </a:lnSpc>
              <a:buFont typeface="Arial"/>
              <a:buChar char="•"/>
            </a:pPr>
            <a:r>
              <a:rPr lang="en-US" sz="3356" b="1" spc="-154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Supports monitoring of wastage control efforts</a:t>
            </a:r>
          </a:p>
          <a:p>
            <a:pPr algn="l">
              <a:lnSpc>
                <a:spcPts val="4699"/>
              </a:lnSpc>
            </a:pPr>
            <a:endParaRPr lang="en-US" sz="3356" b="1" spc="-154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92742" y="6364613"/>
            <a:ext cx="10655486" cy="3522763"/>
          </a:xfrm>
          <a:custGeom>
            <a:avLst/>
            <a:gdLst/>
            <a:ahLst/>
            <a:cxnLst/>
            <a:rect l="l" t="t" r="r" b="b"/>
            <a:pathLst>
              <a:path w="10655486" h="3522763">
                <a:moveTo>
                  <a:pt x="0" y="0"/>
                </a:moveTo>
                <a:lnTo>
                  <a:pt x="10655487" y="0"/>
                </a:lnTo>
                <a:lnTo>
                  <a:pt x="10655487" y="3522763"/>
                </a:lnTo>
                <a:lnTo>
                  <a:pt x="0" y="3522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00919" y="372979"/>
            <a:ext cx="16847310" cy="236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999"/>
              </a:lnSpc>
            </a:pPr>
            <a:r>
              <a:rPr lang="en-US" sz="9999" b="1" spc="-45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Department-wise Manufacture vs Rejected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8328" y="3202994"/>
            <a:ext cx="15912395" cy="2832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Printed Labels manufactured around 26.44M units, with very low rejection.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Woven Labels manufactured about 57.28M units, but the rejection is extremely high—over 520K units.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This shows that most quality issues come from the Woven Labels department</a:t>
            </a:r>
          </a:p>
          <a:p>
            <a:pPr algn="l">
              <a:lnSpc>
                <a:spcPts val="4526"/>
              </a:lnSpc>
            </a:pPr>
            <a:endParaRPr lang="en-US" sz="3232" b="1" spc="-148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B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6262" y="7284610"/>
            <a:ext cx="10451960" cy="2769194"/>
            <a:chOff x="0" y="0"/>
            <a:chExt cx="2752780" cy="72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52780" cy="729335"/>
            </a:xfrm>
            <a:custGeom>
              <a:avLst/>
              <a:gdLst/>
              <a:ahLst/>
              <a:cxnLst/>
              <a:rect l="l" t="t" r="r" b="b"/>
              <a:pathLst>
                <a:path w="2752780" h="729335">
                  <a:moveTo>
                    <a:pt x="40739" y="0"/>
                  </a:moveTo>
                  <a:lnTo>
                    <a:pt x="2712040" y="0"/>
                  </a:lnTo>
                  <a:cubicBezTo>
                    <a:pt x="2722845" y="0"/>
                    <a:pt x="2733207" y="4292"/>
                    <a:pt x="2740847" y="11932"/>
                  </a:cubicBezTo>
                  <a:cubicBezTo>
                    <a:pt x="2748487" y="19572"/>
                    <a:pt x="2752780" y="29935"/>
                    <a:pt x="2752780" y="40739"/>
                  </a:cubicBezTo>
                  <a:lnTo>
                    <a:pt x="2752780" y="688596"/>
                  </a:lnTo>
                  <a:cubicBezTo>
                    <a:pt x="2752780" y="711096"/>
                    <a:pt x="2734540" y="729335"/>
                    <a:pt x="2712040" y="729335"/>
                  </a:cubicBezTo>
                  <a:lnTo>
                    <a:pt x="40739" y="729335"/>
                  </a:lnTo>
                  <a:cubicBezTo>
                    <a:pt x="29935" y="729335"/>
                    <a:pt x="19572" y="725043"/>
                    <a:pt x="11932" y="717403"/>
                  </a:cubicBezTo>
                  <a:cubicBezTo>
                    <a:pt x="4292" y="709763"/>
                    <a:pt x="0" y="699401"/>
                    <a:pt x="0" y="688596"/>
                  </a:cubicBezTo>
                  <a:lnTo>
                    <a:pt x="0" y="40739"/>
                  </a:lnTo>
                  <a:cubicBezTo>
                    <a:pt x="0" y="29935"/>
                    <a:pt x="4292" y="19572"/>
                    <a:pt x="11932" y="11932"/>
                  </a:cubicBezTo>
                  <a:cubicBezTo>
                    <a:pt x="19572" y="4292"/>
                    <a:pt x="29935" y="0"/>
                    <a:pt x="40739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52780" cy="767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10209" lvl="1" indent="-205105" algn="ctr">
                <a:lnSpc>
                  <a:spcPts val="2659"/>
                </a:lnSpc>
                <a:buFont typeface="Arial"/>
                <a:buChar char="•"/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2283" y="1810484"/>
            <a:ext cx="10727887" cy="4698587"/>
            <a:chOff x="0" y="0"/>
            <a:chExt cx="2825452" cy="12374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25452" cy="1237488"/>
            </a:xfrm>
            <a:custGeom>
              <a:avLst/>
              <a:gdLst/>
              <a:ahLst/>
              <a:cxnLst/>
              <a:rect l="l" t="t" r="r" b="b"/>
              <a:pathLst>
                <a:path w="2825452" h="1237488">
                  <a:moveTo>
                    <a:pt x="36805" y="0"/>
                  </a:moveTo>
                  <a:lnTo>
                    <a:pt x="2788647" y="0"/>
                  </a:lnTo>
                  <a:cubicBezTo>
                    <a:pt x="2808974" y="0"/>
                    <a:pt x="2825452" y="16478"/>
                    <a:pt x="2825452" y="36805"/>
                  </a:cubicBezTo>
                  <a:lnTo>
                    <a:pt x="2825452" y="1200683"/>
                  </a:lnTo>
                  <a:cubicBezTo>
                    <a:pt x="2825452" y="1210444"/>
                    <a:pt x="2821574" y="1219806"/>
                    <a:pt x="2814672" y="1226708"/>
                  </a:cubicBezTo>
                  <a:cubicBezTo>
                    <a:pt x="2807770" y="1233610"/>
                    <a:pt x="2798408" y="1237488"/>
                    <a:pt x="2788647" y="1237488"/>
                  </a:cubicBezTo>
                  <a:lnTo>
                    <a:pt x="36805" y="1237488"/>
                  </a:lnTo>
                  <a:cubicBezTo>
                    <a:pt x="27044" y="1237488"/>
                    <a:pt x="17682" y="1233610"/>
                    <a:pt x="10780" y="1226708"/>
                  </a:cubicBezTo>
                  <a:cubicBezTo>
                    <a:pt x="3878" y="1219806"/>
                    <a:pt x="0" y="1210444"/>
                    <a:pt x="0" y="1200683"/>
                  </a:cubicBezTo>
                  <a:lnTo>
                    <a:pt x="0" y="36805"/>
                  </a:lnTo>
                  <a:cubicBezTo>
                    <a:pt x="0" y="27044"/>
                    <a:pt x="3878" y="17682"/>
                    <a:pt x="10780" y="10780"/>
                  </a:cubicBezTo>
                  <a:cubicBezTo>
                    <a:pt x="17682" y="3878"/>
                    <a:pt x="27044" y="0"/>
                    <a:pt x="36805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25452" cy="1275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62283" y="502455"/>
            <a:ext cx="16674331" cy="117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587"/>
              </a:lnSpc>
            </a:pPr>
            <a:r>
              <a:rPr lang="en-US" sz="9541" spc="-438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Recommendations &amp; 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827645"/>
            <a:ext cx="9706543" cy="460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394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Insights</a:t>
            </a:r>
          </a:p>
          <a:p>
            <a:pPr marL="516999" lvl="1" indent="-258499" algn="l">
              <a:lnSpc>
                <a:spcPts val="3352"/>
              </a:lnSpc>
              <a:buFont typeface="Arial"/>
              <a:buChar char="•"/>
            </a:pPr>
            <a:r>
              <a:rPr lang="en-US" sz="2394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Certain machines and employees had consistently higher rejection rates.</a:t>
            </a:r>
          </a:p>
          <a:p>
            <a:pPr marL="516999" lvl="1" indent="-258499" algn="l">
              <a:lnSpc>
                <a:spcPts val="3352"/>
              </a:lnSpc>
              <a:buFont typeface="Arial"/>
              <a:buChar char="•"/>
            </a:pPr>
            <a:r>
              <a:rPr lang="en-US" sz="2394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 few departments showed poor rejection-to-production ratios.</a:t>
            </a:r>
          </a:p>
          <a:p>
            <a:pPr marL="516999" lvl="1" indent="-258499" algn="l">
              <a:lnSpc>
                <a:spcPts val="3352"/>
              </a:lnSpc>
              <a:buFont typeface="Arial"/>
              <a:buChar char="•"/>
            </a:pPr>
            <a:r>
              <a:rPr lang="en-US" sz="2394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Monthly trends revealed spikes in rejection during specific periods.</a:t>
            </a:r>
          </a:p>
          <a:p>
            <a:pPr marL="516999" lvl="1" indent="-258499" algn="l">
              <a:lnSpc>
                <a:spcPts val="3352"/>
              </a:lnSpc>
              <a:buFont typeface="Arial"/>
              <a:buChar char="•"/>
            </a:pPr>
            <a:r>
              <a:rPr lang="en-US" sz="2394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Reducing high-rejection zones can improve total output efficiency.</a:t>
            </a:r>
          </a:p>
          <a:p>
            <a:pPr marL="516999" lvl="1" indent="-258499" algn="l">
              <a:lnSpc>
                <a:spcPts val="3352"/>
              </a:lnSpc>
              <a:buFont typeface="Arial"/>
              <a:buChar char="•"/>
            </a:pPr>
            <a:r>
              <a:rPr lang="en-US" sz="2394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Processed Qty vs Wastage Qty showed waste patterns across shifts.</a:t>
            </a:r>
          </a:p>
          <a:p>
            <a:pPr algn="l">
              <a:lnSpc>
                <a:spcPts val="3352"/>
              </a:lnSpc>
              <a:spcBef>
                <a:spcPct val="0"/>
              </a:spcBef>
            </a:pPr>
            <a:endParaRPr lang="en-US" sz="2394" b="1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766654" y="7446535"/>
            <a:ext cx="9531220" cy="2524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2854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Recommendations</a:t>
            </a:r>
          </a:p>
          <a:p>
            <a:pPr marL="616199" lvl="1" indent="-308100" algn="l">
              <a:lnSpc>
                <a:spcPts val="3995"/>
              </a:lnSpc>
              <a:buFont typeface="Arial"/>
              <a:buChar char="•"/>
            </a:pPr>
            <a:r>
              <a:rPr lang="en-US" sz="2854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Process improvements in the Woven department.</a:t>
            </a:r>
          </a:p>
          <a:p>
            <a:pPr marL="616199" lvl="1" indent="-308100" algn="l">
              <a:lnSpc>
                <a:spcPts val="3995"/>
              </a:lnSpc>
              <a:buFont typeface="Arial"/>
              <a:buChar char="•"/>
            </a:pPr>
            <a:r>
              <a:rPr lang="en-US" sz="2854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Investigate why that one employee has an extremely high rejected quantity. </a:t>
            </a:r>
          </a:p>
          <a:p>
            <a:pPr algn="l">
              <a:lnSpc>
                <a:spcPts val="3995"/>
              </a:lnSpc>
              <a:spcBef>
                <a:spcPct val="0"/>
              </a:spcBef>
            </a:pPr>
            <a:endParaRPr lang="en-US" sz="2854" b="1" dirty="0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2592" y="638175"/>
            <a:ext cx="8752518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200"/>
              </a:lnSpc>
            </a:pPr>
            <a:r>
              <a:rPr lang="en-US" sz="10000" b="1" spc="-368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4019" y="2342861"/>
            <a:ext cx="8944242" cy="553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966" lvl="1" indent="-342983" algn="l">
              <a:lnSpc>
                <a:spcPts val="4448"/>
              </a:lnSpc>
              <a:buFont typeface="Arial"/>
              <a:buChar char="•"/>
            </a:pPr>
            <a:r>
              <a:rPr lang="en-US" sz="3177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project successfully analyzed multiple aspects of manufacturing operational data.</a:t>
            </a:r>
          </a:p>
          <a:p>
            <a:pPr marL="685966" lvl="1" indent="-342983" algn="l">
              <a:lnSpc>
                <a:spcPts val="4448"/>
              </a:lnSpc>
              <a:buFont typeface="Arial"/>
              <a:buChar char="•"/>
            </a:pPr>
            <a:r>
              <a:rPr lang="en-US" sz="3177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Clear patterns were identified in rejection, wastage, and production quantities.</a:t>
            </a:r>
          </a:p>
          <a:p>
            <a:pPr marL="685966" lvl="1" indent="-342983" algn="l">
              <a:lnSpc>
                <a:spcPts val="4448"/>
              </a:lnSpc>
              <a:buFont typeface="Arial"/>
              <a:buChar char="•"/>
            </a:pPr>
            <a:r>
              <a:rPr lang="en-US" sz="3177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Dashboards enabled quick insight into employee performance, machine efficiency, and department trends.</a:t>
            </a:r>
          </a:p>
          <a:p>
            <a:pPr marL="685966" lvl="1" indent="-342983" algn="l">
              <a:lnSpc>
                <a:spcPts val="4448"/>
              </a:lnSpc>
              <a:buFont typeface="Arial"/>
              <a:buChar char="•"/>
            </a:pPr>
            <a:r>
              <a:rPr lang="en-US" sz="3177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multi-tool approach helped create reliable and validated results.</a:t>
            </a:r>
          </a:p>
          <a:p>
            <a:pPr algn="l">
              <a:lnSpc>
                <a:spcPts val="3888"/>
              </a:lnSpc>
              <a:spcBef>
                <a:spcPct val="0"/>
              </a:spcBef>
            </a:pPr>
            <a:endParaRPr lang="en-US" sz="3177" b="1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475" y="1314608"/>
            <a:ext cx="7657784" cy="76577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71926" y="551666"/>
            <a:ext cx="11336729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Key Learnings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81400" y="3189198"/>
            <a:ext cx="11817038" cy="3994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4440" lvl="1" indent="-347220" algn="l">
              <a:lnSpc>
                <a:spcPts val="4503"/>
              </a:lnSpc>
              <a:buFont typeface="Arial"/>
              <a:buChar char="•"/>
            </a:pPr>
            <a:r>
              <a:rPr lang="en-US" sz="3216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Importance of data cleaning before analysis</a:t>
            </a:r>
          </a:p>
          <a:p>
            <a:pPr marL="694440" lvl="1" indent="-347220" algn="l">
              <a:lnSpc>
                <a:spcPts val="4503"/>
              </a:lnSpc>
              <a:buFont typeface="Arial"/>
              <a:buChar char="•"/>
            </a:pPr>
            <a:r>
              <a:rPr lang="en-US" sz="3216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Usefulness of multiple visualisation tools</a:t>
            </a:r>
          </a:p>
          <a:p>
            <a:pPr marL="694440" lvl="1" indent="-347220" algn="l">
              <a:lnSpc>
                <a:spcPts val="4503"/>
              </a:lnSpc>
              <a:buFont typeface="Arial"/>
              <a:buChar char="•"/>
            </a:pPr>
            <a:r>
              <a:rPr lang="en-US" sz="3216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Power of SQL for structured data processing</a:t>
            </a:r>
          </a:p>
          <a:p>
            <a:pPr marL="694440" lvl="1" indent="-347220" algn="l">
              <a:lnSpc>
                <a:spcPts val="4503"/>
              </a:lnSpc>
              <a:buFont typeface="Arial"/>
              <a:buChar char="•"/>
            </a:pPr>
            <a:r>
              <a:rPr lang="en-US" sz="3216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Understanding manufacturing KPIs deeply improves decision-making</a:t>
            </a:r>
          </a:p>
          <a:p>
            <a:pPr marL="694440" lvl="1" indent="-347220" algn="l">
              <a:lnSpc>
                <a:spcPts val="4503"/>
              </a:lnSpc>
              <a:spcBef>
                <a:spcPct val="0"/>
              </a:spcBef>
              <a:buFont typeface="Arial"/>
              <a:buChar char="•"/>
            </a:pPr>
            <a:r>
              <a:rPr lang="en-US" sz="3216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Dashboards help transform raw data into actionable insights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41768" y="2424135"/>
            <a:ext cx="15233274" cy="7331013"/>
          </a:xfrm>
          <a:custGeom>
            <a:avLst/>
            <a:gdLst/>
            <a:ahLst/>
            <a:cxnLst/>
            <a:rect l="l" t="t" r="r" b="b"/>
            <a:pathLst>
              <a:path w="15233274" h="7331013">
                <a:moveTo>
                  <a:pt x="0" y="0"/>
                </a:moveTo>
                <a:lnTo>
                  <a:pt x="15233274" y="0"/>
                </a:lnTo>
                <a:lnTo>
                  <a:pt x="15233274" y="7331013"/>
                </a:lnTo>
                <a:lnTo>
                  <a:pt x="0" y="7331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475635" y="285750"/>
            <a:ext cx="11336729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037"/>
              </a:lnSpc>
            </a:pPr>
            <a:r>
              <a:rPr lang="en-US" sz="10041" b="1" spc="-46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Dashboard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10687" y="-220302"/>
            <a:ext cx="16101469" cy="10727604"/>
          </a:xfrm>
          <a:custGeom>
            <a:avLst/>
            <a:gdLst/>
            <a:ahLst/>
            <a:cxnLst/>
            <a:rect l="l" t="t" r="r" b="b"/>
            <a:pathLst>
              <a:path w="16101469" h="10727604">
                <a:moveTo>
                  <a:pt x="0" y="0"/>
                </a:moveTo>
                <a:lnTo>
                  <a:pt x="16101470" y="0"/>
                </a:lnTo>
                <a:lnTo>
                  <a:pt x="16101470" y="10727604"/>
                </a:lnTo>
                <a:lnTo>
                  <a:pt x="0" y="10727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398704" y="-842851"/>
            <a:ext cx="17657252" cy="11782203"/>
          </a:xfrm>
          <a:custGeom>
            <a:avLst/>
            <a:gdLst/>
            <a:ahLst/>
            <a:cxnLst/>
            <a:rect l="l" t="t" r="r" b="b"/>
            <a:pathLst>
              <a:path w="17657252" h="11782203">
                <a:moveTo>
                  <a:pt x="0" y="0"/>
                </a:moveTo>
                <a:lnTo>
                  <a:pt x="17657252" y="0"/>
                </a:lnTo>
                <a:lnTo>
                  <a:pt x="17657252" y="11782202"/>
                </a:lnTo>
                <a:lnTo>
                  <a:pt x="0" y="11782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219200" y="2673375"/>
            <a:ext cx="8144502" cy="517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3331"/>
              </a:lnSpc>
            </a:pPr>
            <a:r>
              <a:rPr lang="en-US" sz="14812" spc="-681" dirty="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Thank you very much!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626</Words>
  <Application>Microsoft Office PowerPoint</Application>
  <PresentationFormat>Custom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TT Interphases</vt:lpstr>
      <vt:lpstr>TT Interphases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4</dc:title>
  <cp:lastModifiedBy>SONAL SALVI</cp:lastModifiedBy>
  <cp:revision>7</cp:revision>
  <dcterms:created xsi:type="dcterms:W3CDTF">2006-08-16T00:00:00Z</dcterms:created>
  <dcterms:modified xsi:type="dcterms:W3CDTF">2025-12-10T13:03:41Z</dcterms:modified>
  <dc:identifier>DAG6zO2NwhI</dc:identifier>
</cp:coreProperties>
</file>